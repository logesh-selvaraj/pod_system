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989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00424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9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2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8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2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2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6858000" cy="6858000"/>
          </a:xfrm>
          <a:prstGeom prst="ellipse">
            <a:avLst/>
          </a:prstGeom>
          <a:solidFill>
            <a:srgbClr val="0A3B3D"/>
          </a:solidFill>
          <a:ln/>
        </p:spPr>
      </p:sp>
      <p:sp>
        <p:nvSpPr>
          <p:cNvPr id="3" name="Shape 1"/>
          <p:cNvSpPr/>
          <p:nvPr/>
        </p:nvSpPr>
        <p:spPr>
          <a:xfrm>
            <a:off x="9814255" y="4480560"/>
            <a:ext cx="4023360" cy="4023360"/>
          </a:xfrm>
          <a:prstGeom prst="ellipse">
            <a:avLst/>
          </a:prstGeom>
          <a:solidFill>
            <a:srgbClr val="0F454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5 PROJECT  —  REVIEW 1: PLANNING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Standardised Proof-of-Delivery System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B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Evidence-Quality Checks for a Food-Delivery Service Coordinating Restaurants, Riders &amp; Customers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2926080" cy="0"/>
          </a:xfrm>
          <a:prstGeom prst="line">
            <a:avLst/>
          </a:prstGeom>
          <a:noFill/>
          <a:ln w="12700">
            <a:solidFill>
              <a:srgbClr val="1E65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434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 </a:t>
            </a:r>
            <a:r>
              <a:rPr lang="en-US" sz="1400" b="1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LOGESH 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48463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 </a:t>
            </a:r>
            <a:r>
              <a:rPr lang="en-US" sz="14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[Guide Name], [Designation]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A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[College / University Name]  •  Department of Computer Science &amp; Engineering  •  [Month, Year]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822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D8E7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17320" y="175564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417320" y="214884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delivery evidence today is inconsistent and costly to dispute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09360" y="1737360"/>
            <a:ext cx="822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D8E7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086600" y="175564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System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086600" y="214884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current platforms confirm delivery — and where it breaks down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822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D8E7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17320" y="331012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417320" y="370332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standardised, scored Proof-of-Delivery pipeline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09360" y="3291840"/>
            <a:ext cx="822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D8E7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086600" y="331012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Quality Engine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7086600" y="370332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weighted scoring model at the core of the system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4846320"/>
            <a:ext cx="822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D8E7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417320" y="486460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Data Design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417320" y="52578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Modules, system architecture, and the ER model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09360" y="4846320"/>
            <a:ext cx="822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D8E7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086600" y="486460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Cases &amp; Validation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086600" y="52578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handling, and how we'll measure success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Proof Is Inconsistent — and Disputes Are Expensive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4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completed order ends the same way: a rider taps “Delivered.” But the evidence behind that tap is rarely verified — leaving platforms exposed to disputes they can't confidently resolve.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89320" y="1600200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90488" y="180136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/home/claude/ppt/icons/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868" y="1866748"/>
            <a:ext cx="372161" cy="37216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190488" y="2468880"/>
            <a:ext cx="20208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quality check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190488" y="2926080"/>
            <a:ext cx="2020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delivery photos before they're accepted as proof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8613648" y="1600200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14816" y="180136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2" name="Image 1" descr="/home/claude/ppt/icons/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196" y="1866748"/>
            <a:ext cx="372161" cy="37216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814816" y="2468880"/>
            <a:ext cx="20208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Unverified GPS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8814816" y="2926080"/>
            <a:ext cx="2020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or address match at the moment of confirmation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5989320" y="3904488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90488" y="410565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2" descr="/home/claude/ppt/icons/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868" y="4171036"/>
            <a:ext cx="372161" cy="3721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90488" y="4773168"/>
            <a:ext cx="20208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Skipped OTP / signature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190488" y="5230368"/>
            <a:ext cx="2020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rider time pressure or customer unavailability</a:t>
            </a:r>
            <a:endParaRPr lang="en-US" sz="1080" dirty="0"/>
          </a:p>
        </p:txBody>
      </p:sp>
      <p:sp>
        <p:nvSpPr>
          <p:cNvPr id="20" name="Shape 15"/>
          <p:cNvSpPr/>
          <p:nvPr/>
        </p:nvSpPr>
        <p:spPr>
          <a:xfrm>
            <a:off x="8613648" y="3904488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814816" y="410565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2" name="Image 3" descr="/home/claude/ppt/icons/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196" y="4171036"/>
            <a:ext cx="372161" cy="37216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14816" y="4773168"/>
            <a:ext cx="20208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Lost evidence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8814816" y="5230368"/>
            <a:ext cx="2020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network drops during the last mile</a:t>
            </a:r>
            <a:endParaRPr lang="en-US" sz="1080" dirty="0"/>
          </a:p>
        </p:txBody>
      </p:sp>
      <p:sp>
        <p:nvSpPr>
          <p:cNvPr id="25" name="Shape 19"/>
          <p:cNvSpPr/>
          <p:nvPr/>
        </p:nvSpPr>
        <p:spPr>
          <a:xfrm>
            <a:off x="640080" y="3063240"/>
            <a:ext cx="5029200" cy="3108960"/>
          </a:xfrm>
          <a:prstGeom prst="roundRect">
            <a:avLst>
              <a:gd name="adj" fmla="val 2353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868680" y="32735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Ambiguity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868680" y="379476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hours spent re-checking evidence that was never validated at capture</a:t>
            </a:r>
            <a:endParaRPr lang="en-US" sz="120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issued (or withheld) on a subjective, agent-by-agent judgement call</a:t>
            </a:r>
            <a:endParaRPr lang="en-US" sz="120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and restaurant trust erodes when outcomes feel inconsistent</a:t>
            </a:r>
            <a:endParaRPr lang="en-US" sz="120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case is resolved reactively — only after the customer complains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EXISTING SYSTEM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Delivery Confirmation Works Today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Mainstream platforms mark an order “delivered” when a rider taps a status button and optionally attaches one photo. There is no scoring, no consistency check, and no structured record of why a decision was made.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715768"/>
            <a:ext cx="457200" cy="457200"/>
          </a:xfrm>
          <a:prstGeom prst="ellipse">
            <a:avLst/>
          </a:prstGeom>
          <a:solidFill>
            <a:srgbClr val="C6402D"/>
          </a:solidFill>
          <a:ln/>
        </p:spPr>
      </p:sp>
      <p:pic>
        <p:nvPicPr>
          <p:cNvPr id="7" name="Image 0" descr="/home/claude/ppt/icons/disp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" y="2775204"/>
            <a:ext cx="338328" cy="3383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697480"/>
            <a:ext cx="24963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8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automated photo quality check</a:t>
            </a:r>
            <a:endParaRPr lang="en-US" sz="1280" dirty="0"/>
          </a:p>
        </p:txBody>
      </p:sp>
      <p:sp>
        <p:nvSpPr>
          <p:cNvPr id="9" name="Text 6"/>
          <p:cNvSpPr/>
          <p:nvPr/>
        </p:nvSpPr>
        <p:spPr>
          <a:xfrm>
            <a:off x="841248" y="3337560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Blurred or irrelevant images accepted as valid proof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25112" y="251460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15768"/>
            <a:ext cx="457200" cy="457200"/>
          </a:xfrm>
          <a:prstGeom prst="ellipse">
            <a:avLst/>
          </a:prstGeom>
          <a:solidFill>
            <a:srgbClr val="C6402D"/>
          </a:solidFill>
          <a:ln/>
        </p:spPr>
      </p:sp>
      <p:pic>
        <p:nvPicPr>
          <p:cNvPr id="12" name="Image 1" descr="/home/claude/ppt/icons/disp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716" y="2775204"/>
            <a:ext cx="338328" cy="3383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66360" y="2697480"/>
            <a:ext cx="24963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8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GPS unverified at confirmation</a:t>
            </a:r>
            <a:endParaRPr lang="en-US" sz="1280" dirty="0"/>
          </a:p>
        </p:txBody>
      </p:sp>
      <p:sp>
        <p:nvSpPr>
          <p:cNvPr id="14" name="Text 10"/>
          <p:cNvSpPr/>
          <p:nvPr/>
        </p:nvSpPr>
        <p:spPr>
          <a:xfrm>
            <a:off x="4526280" y="3337560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and address match never cross-checked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010144" y="251460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11312" y="2715768"/>
            <a:ext cx="457200" cy="457200"/>
          </a:xfrm>
          <a:prstGeom prst="ellipse">
            <a:avLst/>
          </a:prstGeom>
          <a:solidFill>
            <a:srgbClr val="C6402D"/>
          </a:solidFill>
          <a:ln/>
        </p:spPr>
      </p:sp>
      <p:pic>
        <p:nvPicPr>
          <p:cNvPr id="17" name="Image 2" descr="/home/claude/ppt/icons/disp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0748" y="2775204"/>
            <a:ext cx="338328" cy="33832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51392" y="2697480"/>
            <a:ext cx="24963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8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Inconsistent evidence bar</a:t>
            </a:r>
            <a:endParaRPr lang="en-US" sz="1280" dirty="0"/>
          </a:p>
        </p:txBody>
      </p:sp>
      <p:sp>
        <p:nvSpPr>
          <p:cNvPr id="19" name="Text 14"/>
          <p:cNvSpPr/>
          <p:nvPr/>
        </p:nvSpPr>
        <p:spPr>
          <a:xfrm>
            <a:off x="8211312" y="3337560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support agents make different subjective calls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40080" y="411480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41248" y="4315968"/>
            <a:ext cx="457200" cy="457200"/>
          </a:xfrm>
          <a:prstGeom prst="ellipse">
            <a:avLst/>
          </a:prstGeom>
          <a:solidFill>
            <a:srgbClr val="C6402D"/>
          </a:solidFill>
          <a:ln/>
        </p:spPr>
      </p:sp>
      <p:pic>
        <p:nvPicPr>
          <p:cNvPr id="22" name="Image 3" descr="/home/claude/ppt/icons/disp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" y="4375404"/>
            <a:ext cx="338328" cy="33832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81328" y="4297680"/>
            <a:ext cx="24963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8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Poor offline behaviour</a:t>
            </a:r>
            <a:endParaRPr lang="en-US" sz="1280" dirty="0"/>
          </a:p>
        </p:txBody>
      </p:sp>
      <p:sp>
        <p:nvSpPr>
          <p:cNvPr id="24" name="Text 18"/>
          <p:cNvSpPr/>
          <p:nvPr/>
        </p:nvSpPr>
        <p:spPr>
          <a:xfrm>
            <a:off x="841248" y="4937760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capture commonly fails outright without network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25112" y="411480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315968"/>
            <a:ext cx="457200" cy="457200"/>
          </a:xfrm>
          <a:prstGeom prst="ellipse">
            <a:avLst/>
          </a:prstGeom>
          <a:solidFill>
            <a:srgbClr val="C6402D"/>
          </a:solidFill>
          <a:ln/>
        </p:spPr>
      </p:sp>
      <p:pic>
        <p:nvPicPr>
          <p:cNvPr id="27" name="Image 4" descr="/home/claude/ppt/icons/disp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716" y="4375404"/>
            <a:ext cx="338328" cy="33832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166360" y="4297680"/>
            <a:ext cx="24963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8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audit trail</a:t>
            </a:r>
            <a:endParaRPr lang="en-US" sz="1280" dirty="0"/>
          </a:p>
        </p:txBody>
      </p:sp>
      <p:sp>
        <p:nvSpPr>
          <p:cNvPr id="29" name="Text 22"/>
          <p:cNvSpPr/>
          <p:nvPr/>
        </p:nvSpPr>
        <p:spPr>
          <a:xfrm>
            <a:off x="4526280" y="4937760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status isn't traceable back to specific evidence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010144" y="411480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11312" y="4315968"/>
            <a:ext cx="457200" cy="457200"/>
          </a:xfrm>
          <a:prstGeom prst="ellipse">
            <a:avLst/>
          </a:prstGeom>
          <a:solidFill>
            <a:srgbClr val="C6402D"/>
          </a:solidFill>
          <a:ln/>
        </p:spPr>
      </p:sp>
      <p:pic>
        <p:nvPicPr>
          <p:cNvPr id="32" name="Image 5" descr="/home/claude/ppt/icons/disp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0748" y="4375404"/>
            <a:ext cx="338328" cy="33832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851392" y="4297680"/>
            <a:ext cx="24963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8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 dispute handling</a:t>
            </a:r>
            <a:endParaRPr lang="en-US" sz="1280" dirty="0"/>
          </a:p>
        </p:txBody>
      </p:sp>
      <p:sp>
        <p:nvSpPr>
          <p:cNvPr id="34" name="Text 26"/>
          <p:cNvSpPr/>
          <p:nvPr/>
        </p:nvSpPr>
        <p:spPr>
          <a:xfrm>
            <a:off x="8211312" y="4937760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only surface after the customer complains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OBJECTIVES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95681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/home/claude/ppt/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028139"/>
            <a:ext cx="405994" cy="4059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9536" y="26517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Standardise Evidence Capture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59536" y="3090672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structured evidence types for every delivery: photo, GPS, timestamp, OTP, signature</a:t>
            </a:r>
            <a:endParaRPr lang="en-US" sz="1030" dirty="0"/>
          </a:p>
        </p:txBody>
      </p:sp>
      <p:sp>
        <p:nvSpPr>
          <p:cNvPr id="9" name="Shape 6"/>
          <p:cNvSpPr/>
          <p:nvPr/>
        </p:nvSpPr>
        <p:spPr>
          <a:xfrm>
            <a:off x="4325112" y="17373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44568" y="195681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1" name="Image 1" descr="/home/claude/ppt/icons/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5891" y="2028139"/>
            <a:ext cx="405994" cy="40599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44568" y="26517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 Quality Scoring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4568" y="3090672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weighted rubric that classifies deliveries as Accepted, Review, or Dispute</a:t>
            </a:r>
            <a:endParaRPr lang="en-US" sz="1030" dirty="0"/>
          </a:p>
        </p:txBody>
      </p:sp>
      <p:sp>
        <p:nvSpPr>
          <p:cNvPr id="14" name="Shape 10"/>
          <p:cNvSpPr/>
          <p:nvPr/>
        </p:nvSpPr>
        <p:spPr>
          <a:xfrm>
            <a:off x="8010144" y="17373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0" y="195681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/home/claude/ppt/icons/wifi-o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0923" y="2028139"/>
            <a:ext cx="405994" cy="4059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6517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Offline, Always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229600" y="3090672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evidence capture with zero GPS or network, syncing automatically on reconnect</a:t>
            </a:r>
            <a:endParaRPr lang="en-US" sz="1030" dirty="0"/>
          </a:p>
        </p:txBody>
      </p:sp>
      <p:sp>
        <p:nvSpPr>
          <p:cNvPr id="19" name="Shape 14"/>
          <p:cNvSpPr/>
          <p:nvPr/>
        </p:nvSpPr>
        <p:spPr>
          <a:xfrm>
            <a:off x="640080" y="388620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59536" y="410565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3" descr="/home/claude/ppt/icons/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859" y="4176979"/>
            <a:ext cx="405994" cy="40599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59536" y="48006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Dispatchers the Final Word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59536" y="5239512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logged override workflow for edge cases, with mandatory reasons</a:t>
            </a:r>
            <a:endParaRPr lang="en-US" sz="1030" dirty="0"/>
          </a:p>
        </p:txBody>
      </p:sp>
      <p:sp>
        <p:nvSpPr>
          <p:cNvPr id="24" name="Shape 18"/>
          <p:cNvSpPr/>
          <p:nvPr/>
        </p:nvSpPr>
        <p:spPr>
          <a:xfrm>
            <a:off x="4325112" y="388620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44568" y="410565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6" name="Image 4" descr="/home/claude/ppt/icons/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5891" y="4176979"/>
            <a:ext cx="405994" cy="40599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44568" y="48006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Maintain a Complete Audit Trail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44568" y="5239512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and decision traceable, immutable, and reviewable</a:t>
            </a:r>
            <a:endParaRPr lang="en-US" sz="1030" dirty="0"/>
          </a:p>
        </p:txBody>
      </p:sp>
      <p:sp>
        <p:nvSpPr>
          <p:cNvPr id="29" name="Shape 22"/>
          <p:cNvSpPr/>
          <p:nvPr/>
        </p:nvSpPr>
        <p:spPr>
          <a:xfrm>
            <a:off x="8010144" y="388620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29600" y="410565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1" name="Image 5" descr="/home/claude/ppt/icons/tre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0923" y="4176979"/>
            <a:ext cx="405994" cy="40599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29600" y="48006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What Matters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229600" y="5239512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manual baseline on a labelled validation dataset</a:t>
            </a:r>
            <a:endParaRPr lang="en-US" sz="1030" dirty="0"/>
          </a:p>
        </p:txBody>
      </p:sp>
      <p:sp>
        <p:nvSpPr>
          <p:cNvPr id="34" name="Text 2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PROPOSED SOLUTION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Unverified Tap to Scored Decision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proposed system treats delivery evidence as a structured, automatically scored artifact — not an unexamined attachment. Low-quality evidence is caught before the customer ever has to complain.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514600"/>
            <a:ext cx="2468880" cy="2651760"/>
          </a:xfrm>
          <a:prstGeom prst="roundRect">
            <a:avLst>
              <a:gd name="adj" fmla="val 2963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45920" y="283464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/home/claude/ppt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018" y="2929738"/>
            <a:ext cx="541325" cy="5413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2697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DA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60120" y="374904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60120" y="42062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GPS, timestamp, OTP/signature — online or offline</a:t>
            </a:r>
            <a:endParaRPr lang="en-US" sz="1080" dirty="0"/>
          </a:p>
        </p:txBody>
      </p:sp>
      <p:pic>
        <p:nvPicPr>
          <p:cNvPr id="11" name="Image 1" descr="/home/claude/ppt/icons/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72" y="3675888"/>
            <a:ext cx="329184" cy="32918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749040" y="2514600"/>
            <a:ext cx="2468880" cy="2651760"/>
          </a:xfrm>
          <a:prstGeom prst="roundRect">
            <a:avLst>
              <a:gd name="adj" fmla="val 2963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617720" y="283464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4" name="Image 2" descr="/home/claude/ppt/icons/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2818" y="2929738"/>
            <a:ext cx="541325" cy="54132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931920" y="2697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DA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931920" y="374904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3931920" y="42062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Quality Engine computes a 0–100 weighted score instantly</a:t>
            </a:r>
            <a:endParaRPr lang="en-US" sz="1080" dirty="0"/>
          </a:p>
        </p:txBody>
      </p:sp>
      <p:pic>
        <p:nvPicPr>
          <p:cNvPr id="18" name="Image 3" descr="/home/claude/ppt/icons/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3675888"/>
            <a:ext cx="329184" cy="32918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720840" y="2514600"/>
            <a:ext cx="2468880" cy="2651760"/>
          </a:xfrm>
          <a:prstGeom prst="roundRect">
            <a:avLst>
              <a:gd name="adj" fmla="val 2963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7589520" y="283464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1" name="Image 4" descr="/home/claude/ppt/icons/check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618" y="2929738"/>
            <a:ext cx="541325" cy="54132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903720" y="2697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DA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6903720" y="374904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6903720" y="42062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(≥90) · Manual Review (70–89) · Dispute (&lt;70)</a:t>
            </a:r>
            <a:endParaRPr lang="en-US" sz="1080" dirty="0"/>
          </a:p>
        </p:txBody>
      </p:sp>
      <p:pic>
        <p:nvPicPr>
          <p:cNvPr id="25" name="Image 5" descr="/home/claude/ppt/icons/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2872" y="3675888"/>
            <a:ext cx="329184" cy="329184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692640" y="2514600"/>
            <a:ext cx="2468880" cy="2651760"/>
          </a:xfrm>
          <a:prstGeom prst="roundRect">
            <a:avLst>
              <a:gd name="adj" fmla="val 2963"/>
            </a:avLst>
          </a:prstGeom>
          <a:solidFill>
            <a:srgbClr val="042A2B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10561320" y="2834640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8" name="Image 6" descr="/home/claude/ppt/icons/us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6418" y="2929738"/>
            <a:ext cx="541325" cy="541325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875520" y="2697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FA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30" name="Text 21"/>
          <p:cNvSpPr/>
          <p:nvPr/>
        </p:nvSpPr>
        <p:spPr>
          <a:xfrm>
            <a:off x="9875520" y="374904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</a:t>
            </a:r>
            <a:endParaRPr lang="en-US" sz="1600" dirty="0"/>
          </a:p>
        </p:txBody>
      </p:sp>
      <p:sp>
        <p:nvSpPr>
          <p:cNvPr id="31" name="Text 22"/>
          <p:cNvSpPr/>
          <p:nvPr/>
        </p:nvSpPr>
        <p:spPr>
          <a:xfrm>
            <a:off x="9875520" y="42062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80" dirty="0">
                <a:solidFill>
                  <a:srgbClr val="B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Auto-accepted, or routed to a dispatcher with full context</a:t>
            </a:r>
            <a:endParaRPr lang="en-US" sz="1080" dirty="0"/>
          </a:p>
        </p:txBody>
      </p:sp>
      <p:sp>
        <p:nvSpPr>
          <p:cNvPr id="32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EVIDENCE QUALITY ENGINE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Transparent, Weighted Scoring Rubric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700784" cy="1828800"/>
          </a:xfrm>
          <a:prstGeom prst="roundRect">
            <a:avLst>
              <a:gd name="adj" fmla="val 4301"/>
            </a:avLst>
          </a:prstGeom>
          <a:solidFill>
            <a:srgbClr val="028090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892808"/>
            <a:ext cx="585216" cy="585216"/>
          </a:xfrm>
          <a:prstGeom prst="ellipse">
            <a:avLst/>
          </a:prstGeom>
          <a:solidFill>
            <a:srgbClr val="046B77"/>
          </a:solidFill>
          <a:ln/>
        </p:spPr>
      </p:sp>
      <p:pic>
        <p:nvPicPr>
          <p:cNvPr id="6" name="Image 0" descr="/home/claude/ppt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942" y="1968886"/>
            <a:ext cx="433060" cy="4330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56032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13232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8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Available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2468880" y="1691640"/>
            <a:ext cx="1700784" cy="1828800"/>
          </a:xfrm>
          <a:prstGeom prst="roundRect">
            <a:avLst>
              <a:gd name="adj" fmla="val 4301"/>
            </a:avLst>
          </a:prstGeom>
          <a:solidFill>
            <a:srgbClr val="028090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026664" y="1892808"/>
            <a:ext cx="585216" cy="585216"/>
          </a:xfrm>
          <a:prstGeom prst="ellipse">
            <a:avLst/>
          </a:prstGeom>
          <a:solidFill>
            <a:srgbClr val="046B77"/>
          </a:solidFill>
          <a:ln/>
        </p:spPr>
      </p:sp>
      <p:pic>
        <p:nvPicPr>
          <p:cNvPr id="11" name="Image 1" descr="/home/claude/ppt/icons/g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2742" y="1968886"/>
            <a:ext cx="433060" cy="4330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468880" y="256032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2542032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8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Valid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4297680" y="1691640"/>
            <a:ext cx="1700784" cy="1828800"/>
          </a:xfrm>
          <a:prstGeom prst="roundRect">
            <a:avLst>
              <a:gd name="adj" fmla="val 4301"/>
            </a:avLst>
          </a:prstGeom>
          <a:solidFill>
            <a:srgbClr val="028090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55464" y="1892808"/>
            <a:ext cx="585216" cy="585216"/>
          </a:xfrm>
          <a:prstGeom prst="ellipse">
            <a:avLst/>
          </a:prstGeom>
          <a:solidFill>
            <a:srgbClr val="046B77"/>
          </a:solidFill>
          <a:ln/>
        </p:spPr>
      </p:sp>
      <p:pic>
        <p:nvPicPr>
          <p:cNvPr id="16" name="Image 2" descr="/home/claude/ppt/icons/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1542" y="1968886"/>
            <a:ext cx="433060" cy="4330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297680" y="256032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000" dirty="0"/>
          </a:p>
        </p:txBody>
      </p:sp>
      <p:sp>
        <p:nvSpPr>
          <p:cNvPr id="18" name="Text 13"/>
          <p:cNvSpPr/>
          <p:nvPr/>
        </p:nvSpPr>
        <p:spPr>
          <a:xfrm>
            <a:off x="4370832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8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Valid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6126480" y="1691640"/>
            <a:ext cx="1700784" cy="1828800"/>
          </a:xfrm>
          <a:prstGeom prst="roundRect">
            <a:avLst>
              <a:gd name="adj" fmla="val 4301"/>
            </a:avLst>
          </a:prstGeom>
          <a:solidFill>
            <a:srgbClr val="028090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84264" y="1892808"/>
            <a:ext cx="585216" cy="585216"/>
          </a:xfrm>
          <a:prstGeom prst="ellipse">
            <a:avLst/>
          </a:prstGeom>
          <a:solidFill>
            <a:srgbClr val="046B77"/>
          </a:solidFill>
          <a:ln/>
        </p:spPr>
      </p:sp>
      <p:pic>
        <p:nvPicPr>
          <p:cNvPr id="21" name="Image 3" descr="/home/claude/ppt/icons/signa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0342" y="1968886"/>
            <a:ext cx="433060" cy="4330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126480" y="256032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000" dirty="0"/>
          </a:p>
        </p:txBody>
      </p:sp>
      <p:sp>
        <p:nvSpPr>
          <p:cNvPr id="23" name="Text 17"/>
          <p:cNvSpPr/>
          <p:nvPr/>
        </p:nvSpPr>
        <p:spPr>
          <a:xfrm>
            <a:off x="6199632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8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7955280" y="1691640"/>
            <a:ext cx="1700784" cy="1828800"/>
          </a:xfrm>
          <a:prstGeom prst="roundRect">
            <a:avLst>
              <a:gd name="adj" fmla="val 4301"/>
            </a:avLst>
          </a:prstGeom>
          <a:solidFill>
            <a:srgbClr val="028090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513064" y="1892808"/>
            <a:ext cx="585216" cy="585216"/>
          </a:xfrm>
          <a:prstGeom prst="ellipse">
            <a:avLst/>
          </a:prstGeom>
          <a:solidFill>
            <a:srgbClr val="046B77"/>
          </a:solidFill>
          <a:ln/>
        </p:spPr>
      </p:sp>
      <p:pic>
        <p:nvPicPr>
          <p:cNvPr id="26" name="Image 4" descr="/home/claude/ppt/icons/ot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9142" y="1968886"/>
            <a:ext cx="433060" cy="4330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955280" y="256032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28" name="Text 21"/>
          <p:cNvSpPr/>
          <p:nvPr/>
        </p:nvSpPr>
        <p:spPr>
          <a:xfrm>
            <a:off x="8028432" y="3108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8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</a:t>
            </a:r>
            <a:endParaRPr lang="en-US" sz="1080" dirty="0"/>
          </a:p>
        </p:txBody>
      </p:sp>
      <p:sp>
        <p:nvSpPr>
          <p:cNvPr id="29" name="Text 22"/>
          <p:cNvSpPr/>
          <p:nvPr/>
        </p:nvSpPr>
        <p:spPr>
          <a:xfrm>
            <a:off x="9656064" y="2194560"/>
            <a:ext cx="320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C7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600" dirty="0"/>
          </a:p>
        </p:txBody>
      </p:sp>
      <p:sp>
        <p:nvSpPr>
          <p:cNvPr id="30" name="Shape 23"/>
          <p:cNvSpPr/>
          <p:nvPr/>
        </p:nvSpPr>
        <p:spPr>
          <a:xfrm>
            <a:off x="10003536" y="1691640"/>
            <a:ext cx="1298448" cy="1828800"/>
          </a:xfrm>
          <a:prstGeom prst="roundRect">
            <a:avLst>
              <a:gd name="adj" fmla="val 5634"/>
            </a:avLst>
          </a:prstGeom>
          <a:solidFill>
            <a:srgbClr val="042A2B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31" name="Text 24"/>
          <p:cNvSpPr/>
          <p:nvPr/>
        </p:nvSpPr>
        <p:spPr>
          <a:xfrm>
            <a:off x="10003536" y="21945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200" dirty="0"/>
          </a:p>
        </p:txBody>
      </p:sp>
      <p:sp>
        <p:nvSpPr>
          <p:cNvPr id="32" name="Text 25"/>
          <p:cNvSpPr/>
          <p:nvPr/>
        </p:nvSpPr>
        <p:spPr>
          <a:xfrm>
            <a:off x="10003536" y="288036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9FCF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640080" y="3886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Automatic Classification</a:t>
            </a:r>
            <a:endParaRPr lang="en-US" sz="1450" dirty="0"/>
          </a:p>
        </p:txBody>
      </p:sp>
      <p:sp>
        <p:nvSpPr>
          <p:cNvPr id="34" name="Shape 27"/>
          <p:cNvSpPr/>
          <p:nvPr/>
        </p:nvSpPr>
        <p:spPr>
          <a:xfrm>
            <a:off x="640080" y="429768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02C39A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59536" y="4517136"/>
            <a:ext cx="502920" cy="502920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pic>
        <p:nvPicPr>
          <p:cNvPr id="36" name="Image 5" descr="/home/claude/ppt/icons/check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916" y="4582516"/>
            <a:ext cx="372161" cy="372161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59536" y="51206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– 100</a:t>
            </a:r>
            <a:endParaRPr lang="en-US" sz="1600" dirty="0"/>
          </a:p>
        </p:txBody>
      </p:sp>
      <p:sp>
        <p:nvSpPr>
          <p:cNvPr id="38" name="Text 30"/>
          <p:cNvSpPr/>
          <p:nvPr/>
        </p:nvSpPr>
        <p:spPr>
          <a:xfrm>
            <a:off x="859536" y="546811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859536" y="574243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auto-confirmed. No human action needed.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4325112" y="429768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D98E04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4544568" y="4517136"/>
            <a:ext cx="502920" cy="502920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pic>
        <p:nvPicPr>
          <p:cNvPr id="42" name="Image 6" descr="/home/claude/ppt/icons/review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9948" y="4582516"/>
            <a:ext cx="372161" cy="372161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4544568" y="51206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– 89</a:t>
            </a:r>
            <a:endParaRPr lang="en-US" sz="1600" dirty="0"/>
          </a:p>
        </p:txBody>
      </p:sp>
      <p:sp>
        <p:nvSpPr>
          <p:cNvPr id="44" name="Text 35"/>
          <p:cNvSpPr/>
          <p:nvPr/>
        </p:nvSpPr>
        <p:spPr>
          <a:xfrm>
            <a:off x="4544568" y="546811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Manual Review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4544568" y="574243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to the dispatcher queue within a 24-hour SLA.</a:t>
            </a:r>
            <a:endParaRPr lang="en-US" sz="950" dirty="0"/>
          </a:p>
        </p:txBody>
      </p:sp>
      <p:sp>
        <p:nvSpPr>
          <p:cNvPr id="46" name="Shape 37"/>
          <p:cNvSpPr/>
          <p:nvPr/>
        </p:nvSpPr>
        <p:spPr>
          <a:xfrm>
            <a:off x="8010144" y="429768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C6402D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8229600" y="4517136"/>
            <a:ext cx="502920" cy="502920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pic>
        <p:nvPicPr>
          <p:cNvPr id="48" name="Image 7" descr="/home/claude/ppt/icons/dispute-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94980" y="4582516"/>
            <a:ext cx="372161" cy="372161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8229600" y="51206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Below 70</a:t>
            </a:r>
            <a:endParaRPr lang="en-US" sz="1600" dirty="0"/>
          </a:p>
        </p:txBody>
      </p:sp>
      <p:sp>
        <p:nvSpPr>
          <p:cNvPr id="50" name="Text 40"/>
          <p:cNvSpPr/>
          <p:nvPr/>
        </p:nvSpPr>
        <p:spPr>
          <a:xfrm>
            <a:off x="8229600" y="546811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</a:t>
            </a:r>
            <a:endParaRPr lang="en-US" sz="1200" dirty="0"/>
          </a:p>
        </p:txBody>
      </p:sp>
      <p:sp>
        <p:nvSpPr>
          <p:cNvPr id="51" name="Text 41"/>
          <p:cNvSpPr/>
          <p:nvPr/>
        </p:nvSpPr>
        <p:spPr>
          <a:xfrm>
            <a:off x="8229600" y="574243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opens a dispute; customer &amp; dispatcher notified.</a:t>
            </a:r>
            <a:endParaRPr lang="en-US" sz="950" dirty="0"/>
          </a:p>
        </p:txBody>
      </p:sp>
      <p:sp>
        <p:nvSpPr>
          <p:cNvPr id="52" name="Text 4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Role-Based Modules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21408" cy="4206240"/>
          </a:xfrm>
          <a:prstGeom prst="roundRect">
            <a:avLst>
              <a:gd name="adj" fmla="val 3448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35024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/home/claude/ppt/icons/restaur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122" y="2106778"/>
            <a:ext cx="541325" cy="5413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92608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Restaurant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1005840" y="3429000"/>
            <a:ext cx="1389888" cy="0"/>
          </a:xfrm>
          <a:prstGeom prst="line">
            <a:avLst/>
          </a:prstGeom>
          <a:noFill/>
          <a:ln w="12700">
            <a:solidFill>
              <a:srgbClr val="D8E7E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3611880"/>
            <a:ext cx="17190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orders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rider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status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907792" y="1691640"/>
            <a:ext cx="2121408" cy="4206240"/>
          </a:xfrm>
          <a:prstGeom prst="roundRect">
            <a:avLst>
              <a:gd name="adj" fmla="val 3448"/>
            </a:avLst>
          </a:prstGeom>
          <a:solidFill>
            <a:srgbClr val="028090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02736" y="2011680"/>
            <a:ext cx="731520" cy="731520"/>
          </a:xfrm>
          <a:prstGeom prst="ellipse">
            <a:avLst/>
          </a:prstGeom>
          <a:solidFill>
            <a:srgbClr val="046B77"/>
          </a:solidFill>
          <a:ln/>
        </p:spPr>
      </p:sp>
      <p:pic>
        <p:nvPicPr>
          <p:cNvPr id="12" name="Image 1" descr="/home/claude/ppt/icons/ri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7834" y="2106778"/>
            <a:ext cx="541325" cy="541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044952" y="292608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Rider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3273552" y="3429000"/>
            <a:ext cx="1389888" cy="0"/>
          </a:xfrm>
          <a:prstGeom prst="line">
            <a:avLst/>
          </a:prstGeom>
          <a:noFill/>
          <a:ln w="12700">
            <a:solidFill>
              <a:srgbClr val="0F687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108960" y="3611880"/>
            <a:ext cx="17190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delivery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evidence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delivery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175504" y="1691640"/>
            <a:ext cx="2121408" cy="4206240"/>
          </a:xfrm>
          <a:prstGeom prst="roundRect">
            <a:avLst>
              <a:gd name="adj" fmla="val 3448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870448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8" name="Image 2" descr="/home/claude/ppt/icons/custom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5546" y="2106778"/>
            <a:ext cx="541325" cy="5413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312664" y="292608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1550" dirty="0"/>
          </a:p>
        </p:txBody>
      </p:sp>
      <p:sp>
        <p:nvSpPr>
          <p:cNvPr id="20" name="Shape 15"/>
          <p:cNvSpPr/>
          <p:nvPr/>
        </p:nvSpPr>
        <p:spPr>
          <a:xfrm>
            <a:off x="5541264" y="3429000"/>
            <a:ext cx="1389888" cy="0"/>
          </a:xfrm>
          <a:prstGeom prst="line">
            <a:avLst/>
          </a:prstGeom>
          <a:noFill/>
          <a:ln w="12700">
            <a:solidFill>
              <a:srgbClr val="D8E7E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376672" y="3611880"/>
            <a:ext cx="17190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OTP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delivery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dispute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7443216" y="1691640"/>
            <a:ext cx="2121408" cy="4206240"/>
          </a:xfrm>
          <a:prstGeom prst="roundRect">
            <a:avLst>
              <a:gd name="adj" fmla="val 3448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138160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4" name="Image 3" descr="/home/claude/ppt/icons/dispatch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3258" y="2106778"/>
            <a:ext cx="541325" cy="54132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580376" y="292608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Dispatcher</a:t>
            </a:r>
            <a:endParaRPr lang="en-US" sz="1550" dirty="0"/>
          </a:p>
        </p:txBody>
      </p:sp>
      <p:sp>
        <p:nvSpPr>
          <p:cNvPr id="26" name="Shape 20"/>
          <p:cNvSpPr/>
          <p:nvPr/>
        </p:nvSpPr>
        <p:spPr>
          <a:xfrm>
            <a:off x="7808976" y="3429000"/>
            <a:ext cx="1389888" cy="0"/>
          </a:xfrm>
          <a:prstGeom prst="line">
            <a:avLst/>
          </a:prstGeom>
          <a:noFill/>
          <a:ln w="12700">
            <a:solidFill>
              <a:srgbClr val="D8E7E7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644384" y="3611880"/>
            <a:ext cx="17190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flagged deliveries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decision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history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9710928" y="1691640"/>
            <a:ext cx="2121408" cy="4206240"/>
          </a:xfrm>
          <a:prstGeom prst="roundRect">
            <a:avLst>
              <a:gd name="adj" fmla="val 3448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405872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0" name="Image 4" descr="/home/claude/ppt/icons/adm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00970" y="2106778"/>
            <a:ext cx="541325" cy="541325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848088" y="292608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1550" dirty="0"/>
          </a:p>
        </p:txBody>
      </p:sp>
      <p:sp>
        <p:nvSpPr>
          <p:cNvPr id="32" name="Shape 25"/>
          <p:cNvSpPr/>
          <p:nvPr/>
        </p:nvSpPr>
        <p:spPr>
          <a:xfrm>
            <a:off x="10076688" y="3429000"/>
            <a:ext cx="1389888" cy="0"/>
          </a:xfrm>
          <a:prstGeom prst="line">
            <a:avLst/>
          </a:prstGeom>
          <a:noFill/>
          <a:ln w="12700">
            <a:solidFill>
              <a:srgbClr val="D8E7E7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9912096" y="3611880"/>
            <a:ext cx="17190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analytics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ARCHITECTURE &amp; DATA DESIGN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layered client–server design with an explicit offline-sync boundary at the client edge — the Rider App queues evidence locally and syncs opportunistically.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08792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pic>
        <p:nvPicPr>
          <p:cNvPr id="6" name="Image 0" descr="/home/claude/ppt/assets/architectu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8680" y="2240280"/>
            <a:ext cx="10424160" cy="4069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DATA DESIGN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 — ER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entities: User (with Rider / Customer / Restaurant-owner extensions), Order, Delivery, Evidence, Dispute, Dispatcher Override, and an immutable Audit Log.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08792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pic>
        <p:nvPicPr>
          <p:cNvPr id="6" name="Image 0" descr="/home/claude/ppt/assets/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8680" y="2286000"/>
            <a:ext cx="10424160" cy="3977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Offline-First by Design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 routinely work in basements, elevators, and network dead zones. The capture flow never blocks on connectivity.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2468880" cy="3200400"/>
          </a:xfrm>
          <a:prstGeom prst="roundRect">
            <a:avLst>
              <a:gd name="adj" fmla="val 2963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64208" y="2651760"/>
            <a:ext cx="694944" cy="694944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7" name="Image 0" descr="/home/claude/ppt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4551" y="2742103"/>
            <a:ext cx="514259" cy="5142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3520440"/>
            <a:ext cx="21396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 Locally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941832" y="4023360"/>
            <a:ext cx="21396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written to an on-device queue first — before any network call</a:t>
            </a:r>
            <a:endParaRPr lang="en-US" sz="1080" dirty="0"/>
          </a:p>
        </p:txBody>
      </p:sp>
      <p:pic>
        <p:nvPicPr>
          <p:cNvPr id="10" name="Image 1" descr="/home/claude/ppt/icons/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72" y="3767328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749040" y="2331720"/>
            <a:ext cx="2468880" cy="3200400"/>
          </a:xfrm>
          <a:prstGeom prst="roundRect">
            <a:avLst>
              <a:gd name="adj" fmla="val 2963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36008" y="2651760"/>
            <a:ext cx="694944" cy="694944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3" name="Image 2" descr="/home/claude/ppt/icons/wifi-o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6351" y="2742103"/>
            <a:ext cx="514259" cy="51425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913632" y="3520440"/>
            <a:ext cx="21396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Offline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3913632" y="4023360"/>
            <a:ext cx="21396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never blocks; “Complete Delivery” succeeds at zero connectivity</a:t>
            </a:r>
            <a:endParaRPr lang="en-US" sz="1080" dirty="0"/>
          </a:p>
        </p:txBody>
      </p:sp>
      <p:pic>
        <p:nvPicPr>
          <p:cNvPr id="16" name="Image 3" descr="/home/claude/ppt/icons/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3767328"/>
            <a:ext cx="329184" cy="32918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720840" y="2331720"/>
            <a:ext cx="2468880" cy="3200400"/>
          </a:xfrm>
          <a:prstGeom prst="roundRect">
            <a:avLst>
              <a:gd name="adj" fmla="val 2963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7607808" y="2651760"/>
            <a:ext cx="694944" cy="694944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9" name="Image 4" descr="/home/claude/ppt/icons/syn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8151" y="2742103"/>
            <a:ext cx="514259" cy="514259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885432" y="3520440"/>
            <a:ext cx="21396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Auto-Sync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6885432" y="4023360"/>
            <a:ext cx="21396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Sync Manager retries with backoff once connectivity returns</a:t>
            </a:r>
            <a:endParaRPr lang="en-US" sz="1080" dirty="0"/>
          </a:p>
        </p:txBody>
      </p:sp>
      <p:pic>
        <p:nvPicPr>
          <p:cNvPr id="22" name="Image 5" descr="/home/claude/ppt/icons/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2872" y="3767328"/>
            <a:ext cx="329184" cy="329184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692640" y="2331720"/>
            <a:ext cx="2468880" cy="3200400"/>
          </a:xfrm>
          <a:prstGeom prst="roundRect">
            <a:avLst>
              <a:gd name="adj" fmla="val 2963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10579608" y="2651760"/>
            <a:ext cx="694944" cy="694944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5" name="Image 6" descr="/home/claude/ppt/icons/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9951" y="2742103"/>
            <a:ext cx="514259" cy="514259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857232" y="3520440"/>
            <a:ext cx="21396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&amp; Classify</a:t>
            </a:r>
            <a:endParaRPr lang="en-US" sz="1450" dirty="0"/>
          </a:p>
        </p:txBody>
      </p:sp>
      <p:sp>
        <p:nvSpPr>
          <p:cNvPr id="27" name="Text 18"/>
          <p:cNvSpPr/>
          <p:nvPr/>
        </p:nvSpPr>
        <p:spPr>
          <a:xfrm>
            <a:off x="9857232" y="4023360"/>
            <a:ext cx="21396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GPS caps the score, correctly routing to Manual Review</a:t>
            </a:r>
            <a:endParaRPr lang="en-US" sz="1080" dirty="0"/>
          </a:p>
        </p:txBody>
      </p:sp>
      <p:sp>
        <p:nvSpPr>
          <p:cNvPr id="28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Cases the System Must Handle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048256" cy="3566160"/>
          </a:xfrm>
          <a:prstGeom prst="roundRect">
            <a:avLst>
              <a:gd name="adj" fmla="val 357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44168" y="2057400"/>
            <a:ext cx="640080" cy="640080"/>
          </a:xfrm>
          <a:prstGeom prst="ellipse">
            <a:avLst/>
          </a:prstGeom>
          <a:solidFill>
            <a:srgbClr val="C6402D"/>
          </a:solidFill>
          <a:ln/>
        </p:spPr>
      </p:sp>
      <p:pic>
        <p:nvPicPr>
          <p:cNvPr id="6" name="Image 0" descr="/home/claude/ppt/icons/wifi-off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378" y="214061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880360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49808" y="31363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GPS Unavailable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3749040"/>
            <a:ext cx="1408176" cy="0"/>
          </a:xfrm>
          <a:prstGeom prst="line">
            <a:avLst/>
          </a:prstGeom>
          <a:noFill/>
          <a:ln w="12700">
            <a:solidFill>
              <a:srgbClr val="D8E7E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3886200"/>
            <a:ext cx="17739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mode → reduced score → manual verification</a:t>
            </a:r>
            <a:endParaRPr lang="en-US" sz="980" dirty="0"/>
          </a:p>
        </p:txBody>
      </p:sp>
      <p:sp>
        <p:nvSpPr>
          <p:cNvPr id="11" name="Shape 8"/>
          <p:cNvSpPr/>
          <p:nvPr/>
        </p:nvSpPr>
        <p:spPr>
          <a:xfrm>
            <a:off x="2834640" y="1783080"/>
            <a:ext cx="2048256" cy="3566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38728" y="2057400"/>
            <a:ext cx="640080" cy="640080"/>
          </a:xfrm>
          <a:prstGeom prst="ellipse">
            <a:avLst/>
          </a:prstGeom>
          <a:solidFill>
            <a:srgbClr val="C6402D"/>
          </a:solidFill>
          <a:ln/>
        </p:spPr>
      </p:sp>
      <p:pic>
        <p:nvPicPr>
          <p:cNvPr id="13" name="Image 1" descr="/home/claude/ppt/icons/sync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938" y="2140610"/>
            <a:ext cx="473659" cy="47365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71800" y="2880360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944368" y="31363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Unavailable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154680" y="3749040"/>
            <a:ext cx="1408176" cy="0"/>
          </a:xfrm>
          <a:prstGeom prst="line">
            <a:avLst/>
          </a:prstGeom>
          <a:noFill/>
          <a:ln w="12700">
            <a:solidFill>
              <a:srgbClr val="D8E7E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971800" y="3886200"/>
            <a:ext cx="17739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evidence locally → sync automatically later</a:t>
            </a:r>
            <a:endParaRPr lang="en-US" sz="980" dirty="0"/>
          </a:p>
        </p:txBody>
      </p:sp>
      <p:sp>
        <p:nvSpPr>
          <p:cNvPr id="18" name="Shape 14"/>
          <p:cNvSpPr/>
          <p:nvPr/>
        </p:nvSpPr>
        <p:spPr>
          <a:xfrm>
            <a:off x="5029200" y="1783080"/>
            <a:ext cx="2048256" cy="3566160"/>
          </a:xfrm>
          <a:prstGeom prst="roundRect">
            <a:avLst>
              <a:gd name="adj" fmla="val 357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733288" y="2057400"/>
            <a:ext cx="640080" cy="640080"/>
          </a:xfrm>
          <a:prstGeom prst="ellipse">
            <a:avLst/>
          </a:prstGeom>
          <a:solidFill>
            <a:srgbClr val="C6402D"/>
          </a:solidFill>
          <a:ln/>
        </p:spPr>
      </p:sp>
      <p:pic>
        <p:nvPicPr>
          <p:cNvPr id="20" name="Image 2" descr="/home/claude/ppt/icons/camera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6498" y="2140610"/>
            <a:ext cx="473659" cy="473659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66360" y="2880360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138928" y="31363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Blurred Image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349240" y="3749040"/>
            <a:ext cx="1408176" cy="0"/>
          </a:xfrm>
          <a:prstGeom prst="line">
            <a:avLst/>
          </a:prstGeom>
          <a:noFill/>
          <a:ln w="12700">
            <a:solidFill>
              <a:srgbClr val="D8E7E7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166360" y="3886200"/>
            <a:ext cx="17739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the image → prompt rider to retake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7223760" y="1783080"/>
            <a:ext cx="2048256" cy="3566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927848" y="2057400"/>
            <a:ext cx="640080" cy="640080"/>
          </a:xfrm>
          <a:prstGeom prst="ellipse">
            <a:avLst/>
          </a:prstGeom>
          <a:solidFill>
            <a:srgbClr val="C6402D"/>
          </a:solidFill>
          <a:ln/>
        </p:spPr>
      </p:sp>
      <p:pic>
        <p:nvPicPr>
          <p:cNvPr id="27" name="Image 3" descr="/home/claude/ppt/icons/signature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1058" y="2140610"/>
            <a:ext cx="473659" cy="473659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360920" y="2880360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4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7333488" y="31363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Signature Refused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7543800" y="3749040"/>
            <a:ext cx="1408176" cy="0"/>
          </a:xfrm>
          <a:prstGeom prst="line">
            <a:avLst/>
          </a:prstGeom>
          <a:noFill/>
          <a:ln w="12700">
            <a:solidFill>
              <a:srgbClr val="D8E7E7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360920" y="3886200"/>
            <a:ext cx="17739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back to OTP verification → notify dispatcher</a:t>
            </a:r>
            <a:endParaRPr lang="en-US" sz="980" dirty="0"/>
          </a:p>
        </p:txBody>
      </p:sp>
      <p:sp>
        <p:nvSpPr>
          <p:cNvPr id="32" name="Shape 26"/>
          <p:cNvSpPr/>
          <p:nvPr/>
        </p:nvSpPr>
        <p:spPr>
          <a:xfrm>
            <a:off x="9418320" y="1783080"/>
            <a:ext cx="2048256" cy="3566160"/>
          </a:xfrm>
          <a:prstGeom prst="roundRect">
            <a:avLst>
              <a:gd name="adj" fmla="val 357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10122408" y="2057400"/>
            <a:ext cx="640080" cy="640080"/>
          </a:xfrm>
          <a:prstGeom prst="ellipse">
            <a:avLst/>
          </a:prstGeom>
          <a:solidFill>
            <a:srgbClr val="C6402D"/>
          </a:solidFill>
          <a:ln/>
        </p:spPr>
      </p:sp>
      <p:pic>
        <p:nvPicPr>
          <p:cNvPr id="34" name="Image 4" descr="/home/claude/ppt/icons/gps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5618" y="2140610"/>
            <a:ext cx="473659" cy="473659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555480" y="2880360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5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9528048" y="31363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GPS Mismatch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9738360" y="3749040"/>
            <a:ext cx="1408176" cy="0"/>
          </a:xfrm>
          <a:prstGeom prst="line">
            <a:avLst/>
          </a:prstGeom>
          <a:noFill/>
          <a:ln w="12700">
            <a:solidFill>
              <a:srgbClr val="D8E7E7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555480" y="3886200"/>
            <a:ext cx="177393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8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the location mismatch → route to evidence review</a:t>
            </a:r>
            <a:endParaRPr lang="en-US" sz="980" dirty="0"/>
          </a:p>
        </p:txBody>
      </p:sp>
      <p:sp>
        <p:nvSpPr>
          <p:cNvPr id="39" name="Text 3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2140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/home/claude/ppt/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458" y="2204618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38528"/>
            <a:ext cx="2359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600200" y="2304288"/>
            <a:ext cx="2359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TypeScript, Tailwind CSS, PWA offline support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25112" y="173736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212140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1" name="Image 1" descr="/home/claude/ppt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9490" y="2204618"/>
            <a:ext cx="473659" cy="47365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85232" y="1938528"/>
            <a:ext cx="2359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&amp; DB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285232" y="2304288"/>
            <a:ext cx="2359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(Python), PostgreSQL, Redis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10144" y="173736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11312" y="212140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/home/claude/ppt/icons/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4522" y="2204618"/>
            <a:ext cx="473659" cy="47365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1938528"/>
            <a:ext cx="2359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970264" y="2304288"/>
            <a:ext cx="2359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+ Leaflet.js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40080" y="333756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41248" y="372160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3" descr="/home/claude/ppt/icons/came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458" y="3804818"/>
            <a:ext cx="473659" cy="47365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00200" y="3538728"/>
            <a:ext cx="2359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Validation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600200" y="3904488"/>
            <a:ext cx="2359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— blur &amp; brightness checks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25112" y="333756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2160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6" name="Image 4" descr="/home/claude/ppt/icons/tren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9490" y="3804818"/>
            <a:ext cx="473659" cy="47365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85232" y="3538728"/>
            <a:ext cx="2359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5285232" y="3904488"/>
            <a:ext cx="2359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Chart.js, with Power BI export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10144" y="333756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11312" y="372160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1" name="Image 5" descr="/home/claude/ppt/icons/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4522" y="3804818"/>
            <a:ext cx="473659" cy="473659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70264" y="3538728"/>
            <a:ext cx="2359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970264" y="3904488"/>
            <a:ext cx="2359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RBAC, TLS 1.2+, bcrypt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Validate the System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labelled validation dataset spans normal deliveries and all five edge cases. The Evidence Quality Engine's classification is benchmarked directly against a manual, photo-only baseline — simulating how platforms decide today.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502152" cy="3291840"/>
          </a:xfrm>
          <a:prstGeom prst="roundRect">
            <a:avLst>
              <a:gd name="adj" fmla="val 2222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743200"/>
            <a:ext cx="3044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&amp; Integration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3264408"/>
            <a:ext cx="3044952" cy="0"/>
          </a:xfrm>
          <a:prstGeom prst="line">
            <a:avLst/>
          </a:prstGeom>
          <a:noFill/>
          <a:ln w="12700">
            <a:solidFill>
              <a:srgbClr val="D8E7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3474720"/>
            <a:ext cx="29900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for the scoring engine</a:t>
            </a:r>
            <a:endParaRPr lang="en-US" sz="115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contract tests (Postman/Newman)</a:t>
            </a:r>
            <a:endParaRPr lang="en-US" sz="115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&amp; auth negative-case tests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2514600"/>
            <a:ext cx="3502152" cy="3291840"/>
          </a:xfrm>
          <a:prstGeom prst="roundRect">
            <a:avLst>
              <a:gd name="adj" fmla="val 2222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53712" y="2743200"/>
            <a:ext cx="3044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Edge-Case Scenarios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53712" y="3264408"/>
            <a:ext cx="3044952" cy="0"/>
          </a:xfrm>
          <a:prstGeom prst="line">
            <a:avLst/>
          </a:prstGeom>
          <a:noFill/>
          <a:ln w="12700">
            <a:solidFill>
              <a:srgbClr val="D8E7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3474720"/>
            <a:ext cx="29900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edge cases scripted as tests</a:t>
            </a:r>
            <a:endParaRPr lang="en-US" sz="115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/ recall / F1 per class</a:t>
            </a:r>
            <a:endParaRPr lang="en-US" sz="115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Offline-sync and idempotency checks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10144" y="2514600"/>
            <a:ext cx="3502152" cy="3291840"/>
          </a:xfrm>
          <a:prstGeom prst="roundRect">
            <a:avLst>
              <a:gd name="adj" fmla="val 2222"/>
            </a:avLst>
          </a:prstGeom>
          <a:solidFill>
            <a:srgbClr val="042A2B"/>
          </a:solidFill>
          <a:ln w="12700">
            <a:solidFill>
              <a:srgbClr val="D8E7E7"/>
            </a:solidFill>
            <a:prstDash val="solid"/>
          </a:ln>
          <a:effectLst>
            <a:outerShdw blurRad="101600" dist="25400" dir="5400000" algn="bl" rotWithShape="0">
              <a:srgbClr val="0E2328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38744" y="2743200"/>
            <a:ext cx="3044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Comparison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38744" y="3264408"/>
            <a:ext cx="3044952" cy="0"/>
          </a:xfrm>
          <a:prstGeom prst="line">
            <a:avLst/>
          </a:prstGeom>
          <a:noFill/>
          <a:ln w="12700">
            <a:solidFill>
              <a:srgbClr val="0F68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66176" y="3474720"/>
            <a:ext cx="29900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reviewer, photo-only, vs. EQE</a:t>
            </a:r>
            <a:endParaRPr lang="en-US" sz="115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rate with ground truth</a:t>
            </a:r>
            <a:endParaRPr lang="en-US" sz="1150" dirty="0"/>
          </a:p>
          <a:p>
            <a:pPr marL="177800" indent="-1778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the baseline would wrongly accept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Timeline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71600" y="3749040"/>
            <a:ext cx="9509760" cy="0"/>
          </a:xfrm>
          <a:prstGeom prst="line">
            <a:avLst/>
          </a:prstGeom>
          <a:noFill/>
          <a:ln w="25400">
            <a:solidFill>
              <a:srgbClr val="D8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71016" y="3648456"/>
            <a:ext cx="201168" cy="201168"/>
          </a:xfrm>
          <a:prstGeom prst="ellipse">
            <a:avLst/>
          </a:prstGeom>
          <a:solidFill>
            <a:srgbClr val="02C39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3383280"/>
            <a:ext cx="0" cy="365760"/>
          </a:xfrm>
          <a:prstGeom prst="line">
            <a:avLst/>
          </a:prstGeom>
          <a:noFill/>
          <a:ln w="12700">
            <a:solidFill>
              <a:srgbClr val="D8E7E7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94360" y="233172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042A2B"/>
          </a:solidFill>
          <a:ln w="12700">
            <a:solidFill>
              <a:srgbClr val="D8E7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423160"/>
            <a:ext cx="13350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FCF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1–2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" y="2633472"/>
            <a:ext cx="1335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04088" y="2916936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SRS, architecture, ER design, wireframes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72968" y="3648456"/>
            <a:ext cx="201168" cy="201168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73552" y="3749040"/>
            <a:ext cx="0" cy="320040"/>
          </a:xfrm>
          <a:prstGeom prst="line">
            <a:avLst/>
          </a:prstGeom>
          <a:noFill/>
          <a:ln w="12700">
            <a:solidFill>
              <a:srgbClr val="D8E7E7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496312" y="406908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4160520"/>
            <a:ext cx="13350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3–8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606040" y="4370832"/>
            <a:ext cx="1335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06040" y="4654296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services, evidence capture, offline sync, EQE, dispatcher workflow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74920" y="3648456"/>
            <a:ext cx="201168" cy="201168"/>
          </a:xfrm>
          <a:prstGeom prst="ellipse">
            <a:avLst/>
          </a:prstGeom>
          <a:solidFill>
            <a:srgbClr val="02C39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75504" y="3383280"/>
            <a:ext cx="0" cy="365760"/>
          </a:xfrm>
          <a:prstGeom prst="line">
            <a:avLst/>
          </a:prstGeom>
          <a:noFill/>
          <a:ln w="12700">
            <a:solidFill>
              <a:srgbClr val="D8E7E7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398264" y="233172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042A2B"/>
          </a:solidFill>
          <a:ln w="12700">
            <a:solidFill>
              <a:srgbClr val="D8E7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7992" y="2423160"/>
            <a:ext cx="13350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FCF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07992" y="2633472"/>
            <a:ext cx="1335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2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07992" y="2916936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of capture-to-scoring pipeline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976872" y="3648456"/>
            <a:ext cx="201168" cy="201168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77456" y="3749040"/>
            <a:ext cx="0" cy="320040"/>
          </a:xfrm>
          <a:prstGeom prst="line">
            <a:avLst/>
          </a:prstGeom>
          <a:noFill/>
          <a:ln w="12700">
            <a:solidFill>
              <a:srgbClr val="D8E7E7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300216" y="406908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9944" y="4160520"/>
            <a:ext cx="13350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10–11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9944" y="4370832"/>
            <a:ext cx="1335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9944" y="4654296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history, admin dashboard, validation dataset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878824" y="3648456"/>
            <a:ext cx="201168" cy="201168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79408" y="3383280"/>
            <a:ext cx="0" cy="365760"/>
          </a:xfrm>
          <a:prstGeom prst="line">
            <a:avLst/>
          </a:prstGeom>
          <a:noFill/>
          <a:ln w="12700">
            <a:solidFill>
              <a:srgbClr val="D8E7E7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8202168" y="233172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2F7F7"/>
          </a:solidFill>
          <a:ln w="12700">
            <a:solidFill>
              <a:srgbClr val="D8E7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11896" y="2423160"/>
            <a:ext cx="13350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12–14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11896" y="2633472"/>
            <a:ext cx="1335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Docs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311896" y="2916936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test suite, baseline comparison, final report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0780776" y="3648456"/>
            <a:ext cx="201168" cy="201168"/>
          </a:xfrm>
          <a:prstGeom prst="ellipse">
            <a:avLst/>
          </a:prstGeom>
          <a:solidFill>
            <a:srgbClr val="02C39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881360" y="3749040"/>
            <a:ext cx="0" cy="320040"/>
          </a:xfrm>
          <a:prstGeom prst="line">
            <a:avLst/>
          </a:prstGeom>
          <a:noFill/>
          <a:ln w="12700">
            <a:solidFill>
              <a:srgbClr val="D8E7E7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0104120" y="406908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042A2B"/>
          </a:solidFill>
          <a:ln w="12700">
            <a:solidFill>
              <a:srgbClr val="D8E7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13848" y="4160520"/>
            <a:ext cx="13350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FCF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213848" y="4370832"/>
            <a:ext cx="1335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3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0213848" y="4654296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testing sign-off and live demo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42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0A3B3D"/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-1097280"/>
            <a:ext cx="3108960" cy="3108960"/>
          </a:xfrm>
          <a:prstGeom prst="ellipse">
            <a:avLst/>
          </a:prstGeom>
          <a:solidFill>
            <a:srgbClr val="0F454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46888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3832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2377440" cy="0"/>
          </a:xfrm>
          <a:prstGeom prst="line">
            <a:avLst/>
          </a:prstGeom>
          <a:noFill/>
          <a:ln w="12700">
            <a:solidFill>
              <a:srgbClr val="1E65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A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Proof-of-Delivery System — Review 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4709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A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[Student Name 1] · [Student Name 2] · [Student Name 3]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1209</Words>
  <Application>Microsoft Office PowerPoint</Application>
  <PresentationFormat>Widescreen</PresentationFormat>
  <Paragraphs>250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logesh s</cp:lastModifiedBy>
  <cp:revision>2</cp:revision>
  <dcterms:created xsi:type="dcterms:W3CDTF">2026-08-07T04:48:50Z</dcterms:created>
  <dcterms:modified xsi:type="dcterms:W3CDTF">2026-08-07T05:20:08Z</dcterms:modified>
</cp:coreProperties>
</file>