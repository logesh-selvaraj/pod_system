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04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6858000" cy="6858000"/>
          </a:xfrm>
          <a:prstGeom prst="ellipse">
            <a:avLst/>
          </a:prstGeom>
          <a:solidFill>
            <a:srgbClr val="0A3B3D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023360" cy="402336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PROJECT  —  REVIEW 1: PLANNING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Standardised Proof-of-Delivery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Evidence-Quality Checks for a Food-Delivery Service Coordinating Restaurants, Riders &amp; Customers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2700">
            <a:solidFill>
              <a:srgbClr val="1E65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 </a:t>
            </a:r>
            <a:r>
              <a:rPr lang="en-US" sz="1400" b="1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LOGESH 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/ University Name]  •  Department of Computer Science &amp; Engineering  •  [Month, Year]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8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755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17320" y="21488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delivery evidence today is inconsistent and costly to dispute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8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86600" y="1755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086600" y="21488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current platforms confirm delivery — and where it breaks down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8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3310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37033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standardised, scored Proof-of-Delivery pipeline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8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086600" y="3310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Quality Engine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086600" y="37033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scoring model at the core of the system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8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17320" y="4864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Data Design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17320" y="5257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system architecture, and the ER model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846320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8E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86600" y="4864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&amp; Validation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086600" y="5257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handling, and how we'll measure success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Proof Is Inconsistent — and Disputes Are Expensive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order ends the same way: a rider taps “Delivered.” But the evidence behind that tap is rarely verified — leaving platforms exposed to disputes they can't confidently resolve.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89320" y="160020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90488" y="18013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/icons/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8" y="1866748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90488" y="2468880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quality check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90488" y="2926080"/>
            <a:ext cx="2020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delivery photos before they're accepted as proof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613648" y="160020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814816" y="18013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/icons/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196" y="186674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14816" y="2468880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 GPS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814816" y="2926080"/>
            <a:ext cx="2020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or address match at the moment of confirmation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989320" y="3904488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88" y="41056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pt/icons/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8" y="4171036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4773168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Skipped OTP / signature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190488" y="5230368"/>
            <a:ext cx="2020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rider time pressure or customer unavailability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8613648" y="3904488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814816" y="41056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ppt/icons/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196" y="4171036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14816" y="4773168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evidence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814816" y="5230368"/>
            <a:ext cx="2020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network drops during the last mile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40080" y="306324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686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Ambiguity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68680" y="379476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hours spent re-checking evidence that was never validated at capture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issued (or withheld) on a subjective, agent-by-agent judgement call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and restaurant trust erodes when outcomes feel inconsistent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is resolved reactively — only after the customer complains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EXISTING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Delivery Confirmation Works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platforms mark an order “delivered” when a rider taps a status button and optionally attaches one photo. There is no scoring, no consistency check, and no structured record of why a decision was made.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15768"/>
            <a:ext cx="457200" cy="45720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7" name="Image 0" descr="/home/claude/ppt/icons/disp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77520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69748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automated photo quality check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841248" y="333756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or irrelevant images accepted as valid proof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251460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715768"/>
            <a:ext cx="457200" cy="45720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12" name="Image 1" descr="/home/claude/ppt/icons/disp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6" y="277520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69748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unverified at confirmation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4526280" y="333756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address match never cross-checked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0144" y="251460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11312" y="2715768"/>
            <a:ext cx="457200" cy="45720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17" name="Image 2" descr="/home/claude/ppt/icons/disp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277520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51392" y="269748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evidence bar</a:t>
            </a:r>
            <a:endParaRPr lang="en-US" sz="1280" dirty="0"/>
          </a:p>
        </p:txBody>
      </p:sp>
      <p:sp>
        <p:nvSpPr>
          <p:cNvPr id="19" name="Text 14"/>
          <p:cNvSpPr/>
          <p:nvPr/>
        </p:nvSpPr>
        <p:spPr>
          <a:xfrm>
            <a:off x="8211312" y="333756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support agents make different subjective calls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315968"/>
            <a:ext cx="457200" cy="45720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22" name="Image 3" descr="/home/claude/ppt/icons/disp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37540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81328" y="429768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offline behaviour</a:t>
            </a:r>
            <a:endParaRPr lang="en-US" sz="1280" dirty="0"/>
          </a:p>
        </p:txBody>
      </p:sp>
      <p:sp>
        <p:nvSpPr>
          <p:cNvPr id="24" name="Text 18"/>
          <p:cNvSpPr/>
          <p:nvPr/>
        </p:nvSpPr>
        <p:spPr>
          <a:xfrm>
            <a:off x="841248" y="493776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 commonly fails outright without network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11480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315968"/>
            <a:ext cx="457200" cy="45720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27" name="Image 4" descr="/home/claude/ppt/icons/disp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6" y="4375404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6360" y="429768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 trail</a:t>
            </a:r>
            <a:endParaRPr lang="en-US" sz="1280" dirty="0"/>
          </a:p>
        </p:txBody>
      </p:sp>
      <p:sp>
        <p:nvSpPr>
          <p:cNvPr id="29" name="Text 22"/>
          <p:cNvSpPr/>
          <p:nvPr/>
        </p:nvSpPr>
        <p:spPr>
          <a:xfrm>
            <a:off x="4526280" y="493776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isn't traceable back to specific evidence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10144" y="411480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11312" y="4315968"/>
            <a:ext cx="457200" cy="45720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32" name="Image 5" descr="/home/claude/ppt/icons/disp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4375404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51392" y="429768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dispute handling</a:t>
            </a:r>
            <a:endParaRPr lang="en-US" sz="1280" dirty="0"/>
          </a:p>
        </p:txBody>
      </p:sp>
      <p:sp>
        <p:nvSpPr>
          <p:cNvPr id="34" name="Text 26"/>
          <p:cNvSpPr/>
          <p:nvPr/>
        </p:nvSpPr>
        <p:spPr>
          <a:xfrm>
            <a:off x="8211312" y="493776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only surface after the customer complains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5681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028139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 Evidence Capture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9536" y="30906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structured evidence types for every delivery: photo, GPS, timestamp, OTP, signature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5681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91" y="2028139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Quality Scoring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44568" y="30906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weighted rubric that classifies deliveries as Accepted, Review, or Dispute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010144" y="173736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95681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/icons/wifi-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923" y="2028139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Offline, Always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0" y="30906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capture with zero GPS or network, syncing automatically on reconnect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10565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4176979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9536" y="4800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Dispatchers the Final Word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59536" y="5239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logged override workflow for edge cases, with mandatory reasons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25112" y="388620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10565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pt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891" y="4176979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800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a Complete Audit Trail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44568" y="5239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and decision traceable, immutable, and reviewable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010144" y="388620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10565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ppt/icons/tr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0923" y="4176979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800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What Matters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29600" y="5239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manual baseline on a labelled validation dataset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Unverified Tap to Scored Decision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treats delivery evidence as a structured, automatically scored artifact — not an unexamined attachment. Low-quality evidence is caught before the customer ever has to complain.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8346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018" y="29297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4206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GPS, timestamp, OTP/signature — online or offline</a:t>
            </a:r>
            <a:endParaRPr lang="en-US" sz="1080" dirty="0"/>
          </a:p>
        </p:txBody>
      </p:sp>
      <p:pic>
        <p:nvPicPr>
          <p:cNvPr id="11" name="Image 1" descr="/home/claude/ppt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67588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2514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17720" y="28346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/home/claude/ppt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292973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93192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931920" y="4206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 Engine computes a 0–100 weighted score instantly</a:t>
            </a:r>
            <a:endParaRPr lang="en-US" sz="1080" dirty="0"/>
          </a:p>
        </p:txBody>
      </p:sp>
      <p:pic>
        <p:nvPicPr>
          <p:cNvPr id="18" name="Image 3" descr="/home/claude/ppt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67588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720840" y="2514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589520" y="28346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4" descr="/home/claude/ppt/icons/check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4618" y="2929738"/>
            <a:ext cx="541325" cy="5413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90372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903720" y="4206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(≥90) · Manual Review (70–89) · Dispute (&lt;70)</a:t>
            </a:r>
            <a:endParaRPr lang="en-US" sz="1080" dirty="0"/>
          </a:p>
        </p:txBody>
      </p:sp>
      <p:pic>
        <p:nvPicPr>
          <p:cNvPr id="25" name="Image 5" descr="/home/claude/ppt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3675888"/>
            <a:ext cx="329184" cy="32918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692640" y="2514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042A2B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0561320" y="28346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6" descr="/home/claude/ppt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6418" y="2929738"/>
            <a:ext cx="541325" cy="5413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87552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A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987552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9875520" y="4206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Auto-accepted, or routed to a dispatcher with full context</a:t>
            </a:r>
            <a:endParaRPr lang="en-US" sz="1080" dirty="0"/>
          </a:p>
        </p:txBody>
      </p:sp>
      <p:sp>
        <p:nvSpPr>
          <p:cNvPr id="32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EVIDENCE QUALITY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Weighted Scoring Rubric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028090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1892808"/>
            <a:ext cx="585216" cy="585216"/>
          </a:xfrm>
          <a:prstGeom prst="ellipse">
            <a:avLst/>
          </a:prstGeom>
          <a:solidFill>
            <a:srgbClr val="046B77"/>
          </a:solidFill>
          <a:ln/>
        </p:spPr>
      </p:sp>
      <p:pic>
        <p:nvPicPr>
          <p:cNvPr id="6" name="Image 0" descr="/home/claude/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942" y="1968886"/>
            <a:ext cx="433060" cy="433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3232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Available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468880" y="169164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028090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26664" y="1892808"/>
            <a:ext cx="585216" cy="585216"/>
          </a:xfrm>
          <a:prstGeom prst="ellipse">
            <a:avLst/>
          </a:prstGeom>
          <a:solidFill>
            <a:srgbClr val="046B77"/>
          </a:solidFill>
          <a:ln/>
        </p:spPr>
      </p:sp>
      <p:pic>
        <p:nvPicPr>
          <p:cNvPr id="11" name="Image 1" descr="/home/claude/ppt/icons/g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742" y="1968886"/>
            <a:ext cx="433060" cy="433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5603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2542032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Valid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297680" y="169164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028090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55464" y="1892808"/>
            <a:ext cx="585216" cy="585216"/>
          </a:xfrm>
          <a:prstGeom prst="ellipse">
            <a:avLst/>
          </a:prstGeom>
          <a:solidFill>
            <a:srgbClr val="046B77"/>
          </a:solidFill>
          <a:ln/>
        </p:spPr>
      </p:sp>
      <p:pic>
        <p:nvPicPr>
          <p:cNvPr id="16" name="Image 2" descr="/home/claude/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542" y="1968886"/>
            <a:ext cx="433060" cy="433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97680" y="25603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4370832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Valid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26480" y="169164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028090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84264" y="1892808"/>
            <a:ext cx="585216" cy="585216"/>
          </a:xfrm>
          <a:prstGeom prst="ellipse">
            <a:avLst/>
          </a:prstGeom>
          <a:solidFill>
            <a:srgbClr val="046B77"/>
          </a:solidFill>
          <a:ln/>
        </p:spPr>
      </p:sp>
      <p:pic>
        <p:nvPicPr>
          <p:cNvPr id="21" name="Image 3" descr="/home/claude/ppt/icons/signa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342" y="1968886"/>
            <a:ext cx="433060" cy="433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25603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6199632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7955280" y="1691640"/>
            <a:ext cx="1700784" cy="1828800"/>
          </a:xfrm>
          <a:prstGeom prst="roundRect">
            <a:avLst>
              <a:gd name="adj" fmla="val 4301"/>
            </a:avLst>
          </a:prstGeom>
          <a:solidFill>
            <a:srgbClr val="028090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13064" y="1892808"/>
            <a:ext cx="585216" cy="585216"/>
          </a:xfrm>
          <a:prstGeom prst="ellipse">
            <a:avLst/>
          </a:prstGeom>
          <a:solidFill>
            <a:srgbClr val="046B77"/>
          </a:solidFill>
          <a:ln/>
        </p:spPr>
      </p:sp>
      <p:pic>
        <p:nvPicPr>
          <p:cNvPr id="26" name="Image 4" descr="/home/claude/ppt/icons/ot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9142" y="1968886"/>
            <a:ext cx="433060" cy="4330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5280" y="25603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8028432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9656064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30" name="Shape 23"/>
          <p:cNvSpPr/>
          <p:nvPr/>
        </p:nvSpPr>
        <p:spPr>
          <a:xfrm>
            <a:off x="10003536" y="169164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042A2B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10003536" y="21945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32" name="Text 25"/>
          <p:cNvSpPr/>
          <p:nvPr/>
        </p:nvSpPr>
        <p:spPr>
          <a:xfrm>
            <a:off x="10003536" y="288036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Classification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640080" y="42976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02C39A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59536" y="4517136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36" name="Image 5" descr="/home/claude/ppt/icons/check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916" y="4582516"/>
            <a:ext cx="372161" cy="37216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59536" y="5120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– 100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859536" y="5468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59536" y="57424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auto-confirmed. No human action needed.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325112" y="42976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D98E04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544568" y="4517136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42" name="Image 6" descr="/home/claude/ppt/icons/review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9948" y="4582516"/>
            <a:ext cx="372161" cy="372161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544568" y="5120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– 89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4544568" y="5468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Manual Review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544568" y="57424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the dispatcher queue within a 24-hour SLA.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8010144" y="42976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C6402D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229600" y="4517136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48" name="Image 7" descr="/home/claude/ppt/icons/dispute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4980" y="4582516"/>
            <a:ext cx="372161" cy="372161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229600" y="5120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70</a:t>
            </a:r>
            <a:endParaRPr lang="en-US" sz="1600" dirty="0"/>
          </a:p>
        </p:txBody>
      </p:sp>
      <p:sp>
        <p:nvSpPr>
          <p:cNvPr id="50" name="Text 40"/>
          <p:cNvSpPr/>
          <p:nvPr/>
        </p:nvSpPr>
        <p:spPr>
          <a:xfrm>
            <a:off x="8229600" y="5468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8229600" y="57424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opens a dispute; customer &amp; dispatcher notified.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Role-Based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icons/restaur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22" y="21067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05840" y="3429000"/>
            <a:ext cx="1389888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611880"/>
            <a:ext cx="17190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rider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07792" y="169164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2736" y="2011680"/>
            <a:ext cx="731520" cy="731520"/>
          </a:xfrm>
          <a:prstGeom prst="ellipse">
            <a:avLst/>
          </a:prstGeom>
          <a:solidFill>
            <a:srgbClr val="046B77"/>
          </a:solidFill>
          <a:ln/>
        </p:spPr>
      </p:sp>
      <p:pic>
        <p:nvPicPr>
          <p:cNvPr id="12" name="Image 1" descr="/home/claude/ppt/icons/ri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834" y="21067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4952" y="2926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3273552" y="3429000"/>
            <a:ext cx="1389888" cy="0"/>
          </a:xfrm>
          <a:prstGeom prst="line">
            <a:avLst/>
          </a:prstGeom>
          <a:noFill/>
          <a:ln w="12700">
            <a:solidFill>
              <a:srgbClr val="0F687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08960" y="3611880"/>
            <a:ext cx="17190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delivery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evidence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delivery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75504" y="169164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70448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pt/icons/custo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546" y="210677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12664" y="2926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5541264" y="3429000"/>
            <a:ext cx="1389888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76672" y="3611880"/>
            <a:ext cx="17190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OTP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delivery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dispute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43216" y="169164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3816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ppt/icons/dispatch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258" y="2106778"/>
            <a:ext cx="541325" cy="5413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80376" y="2926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Dispatcher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7808976" y="3429000"/>
            <a:ext cx="1389888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644384" y="3611880"/>
            <a:ext cx="17190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deliveries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decision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history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710928" y="169164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405872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/home/claude/ppt/icons/adm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0970" y="2106778"/>
            <a:ext cx="541325" cy="5413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48088" y="2926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50" dirty="0"/>
          </a:p>
        </p:txBody>
      </p:sp>
      <p:sp>
        <p:nvSpPr>
          <p:cNvPr id="32" name="Shape 25"/>
          <p:cNvSpPr/>
          <p:nvPr/>
        </p:nvSpPr>
        <p:spPr>
          <a:xfrm>
            <a:off x="10076688" y="3429000"/>
            <a:ext cx="1389888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912096" y="3611880"/>
            <a:ext cx="17190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analytics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ARCHITECTURE &amp; DATA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client–server design with an explicit offline-sync boundary at the client edge — the Rider App queues evidence locally and syncs opportunistically.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087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pic>
        <p:nvPicPr>
          <p:cNvPr id="6" name="Image 0" descr="/home/claude/ppt/asset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240280"/>
            <a:ext cx="1042416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ER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entities: User (with Rider / Customer / Restaurant-owner extensions), Order, Delivery, Evidence, Dispute, Dispatcher Override, and an immutable Audit Log.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087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pic>
        <p:nvPicPr>
          <p:cNvPr id="6" name="Image 0" descr="/home/claude/ppt/assets/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286000"/>
            <a:ext cx="104241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by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routinely work in basements, elevators, and network dead zones. The capture flow never blocks on connectivity.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4208" y="2651760"/>
            <a:ext cx="694944" cy="69494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51" y="2742103"/>
            <a:ext cx="514259" cy="514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352044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Locally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41832" y="40233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written to an on-device queue first — before any network call</a:t>
            </a:r>
            <a:endParaRPr lang="en-US" sz="1080" dirty="0"/>
          </a:p>
        </p:txBody>
      </p:sp>
      <p:pic>
        <p:nvPicPr>
          <p:cNvPr id="10" name="Image 1" descr="/home/claude/ppt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76732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49040" y="233172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36008" y="2651760"/>
            <a:ext cx="694944" cy="69494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ppt/icons/wifi-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51" y="2742103"/>
            <a:ext cx="514259" cy="5142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3632" y="352044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Offline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913632" y="40233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never blocks; “Complete Delivery” succeeds at zero connectivity</a:t>
            </a:r>
            <a:endParaRPr lang="en-US" sz="1080" dirty="0"/>
          </a:p>
        </p:txBody>
      </p:sp>
      <p:pic>
        <p:nvPicPr>
          <p:cNvPr id="16" name="Image 3" descr="/home/claude/ppt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767328"/>
            <a:ext cx="329184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720840" y="233172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607808" y="2651760"/>
            <a:ext cx="694944" cy="69494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4" descr="/home/claude/ppt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8151" y="2742103"/>
            <a:ext cx="514259" cy="5142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85432" y="352044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Auto-Sync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885432" y="40233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Manager retries with backoff once connectivity returns</a:t>
            </a:r>
            <a:endParaRPr lang="en-US" sz="1080" dirty="0"/>
          </a:p>
        </p:txBody>
      </p:sp>
      <p:pic>
        <p:nvPicPr>
          <p:cNvPr id="22" name="Image 5" descr="/home/claude/ppt/icons/arrow-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3767328"/>
            <a:ext cx="329184" cy="32918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92640" y="233172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579608" y="2651760"/>
            <a:ext cx="694944" cy="69494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6" descr="/home/claude/ppt/icon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9951" y="2742103"/>
            <a:ext cx="514259" cy="51425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857232" y="352044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Classify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9857232" y="40233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GPS caps the score, correctly routing to Manual Review</a:t>
            </a:r>
            <a:endParaRPr lang="en-US" sz="1080" dirty="0"/>
          </a:p>
        </p:txBody>
      </p:sp>
      <p:sp>
        <p:nvSpPr>
          <p:cNvPr id="28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the System Must Handle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057400"/>
            <a:ext cx="640080" cy="64008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6" name="Image 0" descr="/home/claude/ppt/icons/wifi-off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378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" y="31363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Unavailable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749040"/>
            <a:ext cx="1408176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88620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→ reduced score → manual verification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834640" y="178308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38728" y="2057400"/>
            <a:ext cx="640080" cy="64008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13" name="Image 1" descr="/home/claude/ppt/icons/sync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938" y="214061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288036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944368" y="31363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Unavailable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154680" y="3749040"/>
            <a:ext cx="1408176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71800" y="388620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evidence locally → sync automatically later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5029200" y="178308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33288" y="2057400"/>
            <a:ext cx="640080" cy="64008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20" name="Image 2" descr="/home/claude/ppt/icons/camer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498" y="214061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6360" y="288036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138928" y="31363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Blurred Image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349240" y="3749040"/>
            <a:ext cx="1408176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66360" y="388620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the image → prompt rider to retake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7223760" y="178308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27848" y="2057400"/>
            <a:ext cx="640080" cy="64008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27" name="Image 3" descr="/home/claude/ppt/icons/signatur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1058" y="2140610"/>
            <a:ext cx="473659" cy="4736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920" y="288036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333488" y="31363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Refused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543800" y="3749040"/>
            <a:ext cx="1408176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360920" y="388620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OTP verification → notify dispatcher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9418320" y="178308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122408" y="2057400"/>
            <a:ext cx="640080" cy="640080"/>
          </a:xfrm>
          <a:prstGeom prst="ellipse">
            <a:avLst/>
          </a:prstGeom>
          <a:solidFill>
            <a:srgbClr val="C6402D"/>
          </a:solidFill>
          <a:ln/>
        </p:spPr>
      </p:sp>
      <p:pic>
        <p:nvPicPr>
          <p:cNvPr id="34" name="Image 4" descr="/home/claude/ppt/icons/gps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5618" y="2140610"/>
            <a:ext cx="473659" cy="47365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55480" y="288036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528048" y="31363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Mismatch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738360" y="3749040"/>
            <a:ext cx="1408176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555480" y="3886200"/>
            <a:ext cx="17739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location mismatch → route to evidence review</a:t>
            </a:r>
            <a:endParaRPr lang="en-US" sz="980" dirty="0"/>
          </a:p>
        </p:txBody>
      </p:sp>
      <p:sp>
        <p:nvSpPr>
          <p:cNvPr id="39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" y="220461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30428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TypeScript, Tailwind CSS, PWA offline support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1214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90" y="2204618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9385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DB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85232" y="230428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(Python), PostgreSQL, Redis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7373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21214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/icons/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522" y="2204618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19385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70264" y="230428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+ Leaflet.js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3375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7216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" y="3804818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5387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Validation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0200" y="390448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blur &amp; brightness checks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3375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7216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pt/icons/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490" y="3804818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5387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85232" y="390448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Chart.js, with Power BI export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3375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7216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ppt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4522" y="3804818"/>
            <a:ext cx="473659" cy="47365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53872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70264" y="3904488"/>
            <a:ext cx="2359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RBAC, TLS 1.2+, bcrypt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Validate the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validation dataset spans normal deliveries and all five edge cases. The Evidence Quality Engine's classification is benchmarked directly against a manual, photo-only baseline — simulating how platforms decide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74320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&amp; Integration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264408"/>
            <a:ext cx="3044952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47472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for the scoring engine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tests (Postman/Newman)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auth negative-case tests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51460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74320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Edge-Case Scenarios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53712" y="3264408"/>
            <a:ext cx="3044952" cy="0"/>
          </a:xfrm>
          <a:prstGeom prst="line">
            <a:avLst/>
          </a:prstGeom>
          <a:noFill/>
          <a:ln w="12700">
            <a:solidFill>
              <a:srgbClr val="D8E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347472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edge cases scripted as tests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per class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Offline-sync and idempotency checks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251460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042A2B"/>
          </a:solidFill>
          <a:ln w="12700">
            <a:solidFill>
              <a:srgbClr val="D8E7E7"/>
            </a:solidFill>
            <a:prstDash val="solid"/>
          </a:ln>
          <a:effectLst>
            <a:outerShdw blurRad="101600" dist="25400" dir="5400000" algn="bl" rotWithShape="0">
              <a:srgbClr val="0E23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38744" y="274320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Comparison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38744" y="3264408"/>
            <a:ext cx="3044952" cy="0"/>
          </a:xfrm>
          <a:prstGeom prst="line">
            <a:avLst/>
          </a:prstGeom>
          <a:noFill/>
          <a:ln w="12700">
            <a:solidFill>
              <a:srgbClr val="0F6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347472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reviewer, photo-only, vs. EQE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rate with ground truth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the baseline would wrongly accept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3749040"/>
            <a:ext cx="9509760" cy="0"/>
          </a:xfrm>
          <a:prstGeom prst="line">
            <a:avLst/>
          </a:prstGeom>
          <a:noFill/>
          <a:ln w="25400">
            <a:solidFill>
              <a:srgbClr val="D8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3648456"/>
            <a:ext cx="201168" cy="20116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3383280"/>
            <a:ext cx="0" cy="365760"/>
          </a:xfrm>
          <a:prstGeom prst="line">
            <a:avLst/>
          </a:prstGeom>
          <a:noFill/>
          <a:ln w="12700">
            <a:solidFill>
              <a:srgbClr val="D8E7E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" y="23317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042A2B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42316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263347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291693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SRS, architecture, ER design, wireframes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72968" y="36484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3749040"/>
            <a:ext cx="0" cy="320040"/>
          </a:xfrm>
          <a:prstGeom prst="line">
            <a:avLst/>
          </a:prstGeom>
          <a:noFill/>
          <a:ln w="12700">
            <a:solidFill>
              <a:srgbClr val="D8E7E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96312" y="40690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16052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437083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06040" y="465429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services, evidence capture, offline sync, EQE, dispatcher workflow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4920" y="3648456"/>
            <a:ext cx="201168" cy="20116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5504" y="3383280"/>
            <a:ext cx="0" cy="365760"/>
          </a:xfrm>
          <a:prstGeom prst="line">
            <a:avLst/>
          </a:prstGeom>
          <a:noFill/>
          <a:ln w="12700">
            <a:solidFill>
              <a:srgbClr val="D8E7E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398264" y="23317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042A2B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42316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7992" y="263347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07992" y="291693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of capture-to-scoring pipeline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76872" y="36484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77456" y="3749040"/>
            <a:ext cx="0" cy="320040"/>
          </a:xfrm>
          <a:prstGeom prst="line">
            <a:avLst/>
          </a:prstGeom>
          <a:noFill/>
          <a:ln w="12700">
            <a:solidFill>
              <a:srgbClr val="D8E7E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300216" y="40690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416052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10–11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9944" y="437083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9944" y="465429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history, admin dashboard, validation dataset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878824" y="36484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9408" y="3383280"/>
            <a:ext cx="0" cy="365760"/>
          </a:xfrm>
          <a:prstGeom prst="line">
            <a:avLst/>
          </a:prstGeom>
          <a:noFill/>
          <a:ln w="12700">
            <a:solidFill>
              <a:srgbClr val="D8E7E7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202168" y="23317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242316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12–14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11896" y="263347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Docs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11896" y="291693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suite, baseline comparison, final report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780776" y="3648456"/>
            <a:ext cx="201168" cy="20116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3749040"/>
            <a:ext cx="0" cy="320040"/>
          </a:xfrm>
          <a:prstGeom prst="line">
            <a:avLst/>
          </a:prstGeom>
          <a:noFill/>
          <a:ln w="12700">
            <a:solidFill>
              <a:srgbClr val="D8E7E7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104120" y="40690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042A2B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13848" y="416052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13848" y="437083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13848" y="465429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sign-off and live demo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A3B3D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1097280"/>
            <a:ext cx="3108960" cy="3108960"/>
          </a:xfrm>
          <a:prstGeom prst="ellipse">
            <a:avLst/>
          </a:prstGeom>
          <a:solidFill>
            <a:srgbClr val="0F45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377440" cy="0"/>
          </a:xfrm>
          <a:prstGeom prst="line">
            <a:avLst/>
          </a:prstGeom>
          <a:noFill/>
          <a:ln w="12700">
            <a:solidFill>
              <a:srgbClr val="1E65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Proof-of-Delivery System — Review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1183</Words>
  <Application>Microsoft Office PowerPoint</Application>
  <PresentationFormat>Widescreen</PresentationFormat>
  <Paragraphs>248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logesh s</cp:lastModifiedBy>
  <cp:revision>3</cp:revision>
  <dcterms:created xsi:type="dcterms:W3CDTF">2026-08-07T04:48:50Z</dcterms:created>
  <dcterms:modified xsi:type="dcterms:W3CDTF">2026-09-04T05:22:39Z</dcterms:modified>
</cp:coreProperties>
</file>